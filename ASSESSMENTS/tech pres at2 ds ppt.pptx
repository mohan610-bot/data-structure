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2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Implementation of an LRU Cache Using Data Structures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pPr/>
            <a:r>
              <a:t>Data Structure-CSA0302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8055863" y="4871529"/>
            <a:ext cx="3895345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Presented by </a:t>
            </a:r>
          </a:p>
          <a:p>
            <a:pPr/>
            <a:r>
              <a:t>S.Mohana velan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13231" y="4871529"/>
            <a:ext cx="2377442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Guided by </a:t>
            </a:r>
          </a:p>
          <a:p>
            <a:pPr/>
            <a:r>
              <a:t>Dr.Alphonsa</a:t>
            </a:r>
          </a:p>
        </p:txBody>
      </p:sp>
      <p:grpSp>
        <p:nvGrpSpPr>
          <p:cNvPr id="100" name="object 4"/>
          <p:cNvGrpSpPr/>
          <p:nvPr/>
        </p:nvGrpSpPr>
        <p:grpSpPr>
          <a:xfrm>
            <a:off x="253998" y="262162"/>
            <a:ext cx="11684005" cy="1350742"/>
            <a:chOff x="0" y="-1"/>
            <a:chExt cx="11684003" cy="1350740"/>
          </a:xfrm>
        </p:grpSpPr>
        <p:pic>
          <p:nvPicPr>
            <p:cNvPr id="98" name="object 4" descr="object 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03199" y="203200"/>
              <a:ext cx="11277605" cy="9062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" name="object 4" descr="object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2"/>
              <a:ext cx="11684005" cy="13507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xfrm>
            <a:off x="3221338" y="319074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838199" y="1664446"/>
            <a:ext cx="10515601" cy="4351339"/>
          </a:xfrm>
          <a:prstGeom prst="rect">
            <a:avLst/>
          </a:prstGeom>
        </p:spPr>
        <p:txBody>
          <a:bodyPr/>
          <a:lstStyle/>
          <a:p>
            <a:pPr marL="211755" indent="-211755" defTabSz="402336">
              <a:lnSpc>
                <a:spcPct val="140000"/>
              </a:lnSpc>
              <a:spcBef>
                <a:spcPts val="0"/>
              </a:spcBef>
              <a:buFontTx/>
              <a:defRPr sz="2112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LRU (Least Recently Used) Cache</a:t>
            </a:r>
            <a:r>
              <a:t> is a memory management technique that removes the least recently accessed data when the cache is full.</a:t>
            </a:r>
          </a:p>
          <a:p>
            <a:pPr marL="211755" indent="-211755" defTabSz="402336">
              <a:lnSpc>
                <a:spcPct val="140000"/>
              </a:lnSpc>
              <a:spcBef>
                <a:spcPts val="0"/>
              </a:spcBef>
              <a:buFontTx/>
              <a:defRPr sz="211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It improves system performance by reducing data retrieval time and optimizing memory usage.</a:t>
            </a:r>
          </a:p>
          <a:p>
            <a:pPr marL="211755" indent="-211755" defTabSz="402336">
              <a:lnSpc>
                <a:spcPct val="140000"/>
              </a:lnSpc>
              <a:spcBef>
                <a:spcPts val="0"/>
              </a:spcBef>
              <a:buFontTx/>
              <a:defRPr sz="211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implementation uses a </a:t>
            </a:r>
            <a:r>
              <a:rPr b="1"/>
              <a:t>Hash Map</a:t>
            </a:r>
            <a:r>
              <a:t> for fast data access and a </a:t>
            </a:r>
            <a:r>
              <a:rPr b="1"/>
              <a:t>Doubly Linked List</a:t>
            </a:r>
            <a:r>
              <a:t> to maintain the order of usage.</a:t>
            </a:r>
          </a:p>
          <a:p>
            <a:pPr marL="211755" indent="-211755" defTabSz="402336">
              <a:lnSpc>
                <a:spcPct val="140000"/>
              </a:lnSpc>
              <a:spcBef>
                <a:spcPts val="0"/>
              </a:spcBef>
              <a:buFontTx/>
              <a:defRPr sz="211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combination of these data structures provides </a:t>
            </a:r>
            <a:r>
              <a:rPr b="1"/>
              <a:t>O(1)</a:t>
            </a:r>
            <a:r>
              <a:t> time complexity for insertion, deletion, and access operations.</a:t>
            </a:r>
          </a:p>
          <a:p>
            <a:pPr marL="211755" indent="-211755" defTabSz="402336">
              <a:lnSpc>
                <a:spcPct val="140000"/>
              </a:lnSpc>
              <a:spcBef>
                <a:spcPts val="0"/>
              </a:spcBef>
              <a:buFontTx/>
              <a:defRPr sz="2112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LRU Cache is widely used in operating systems, web browsers, databases, and other applications for efficient data caching.</a:t>
            </a:r>
          </a:p>
        </p:txBody>
      </p:sp>
      <p:pic>
        <p:nvPicPr>
          <p:cNvPr id="10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itle 1"/>
          <p:cNvSpPr txBox="1"/>
          <p:nvPr>
            <p:ph type="title"/>
          </p:nvPr>
        </p:nvSpPr>
        <p:spPr>
          <a:xfrm>
            <a:off x="3221338" y="319074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Problem Statement</a:t>
            </a:r>
          </a:p>
        </p:txBody>
      </p:sp>
      <p:sp>
        <p:nvSpPr>
          <p:cNvPr id="108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Problem</a:t>
            </a:r>
          </a:p>
          <a:p>
            <a:pPr/>
            <a:r>
              <a:t>Frequently accessed data should be retrieved quickly. </a:t>
            </a:r>
          </a:p>
          <a:p>
            <a:pPr/>
            <a:r>
              <a:t>Cache memory has limited capacity. </a:t>
            </a:r>
          </a:p>
          <a:p>
            <a:pPr/>
            <a:r>
              <a:t>Least recently used data should be removed when the cache becomes full. </a:t>
            </a:r>
          </a:p>
          <a:p>
            <a:pPr>
              <a:defRPr b="1"/>
            </a:pPr>
            <a:r>
              <a:t>Solution</a:t>
            </a:r>
          </a:p>
          <a:p>
            <a:pPr/>
            <a:r>
              <a:t>Use </a:t>
            </a:r>
            <a:r>
              <a:rPr b="1"/>
              <a:t>Hash Map + Doubly Linked List</a:t>
            </a:r>
            <a:r>
              <a:t>. </a:t>
            </a:r>
          </a:p>
        </p:txBody>
      </p:sp>
      <p:pic>
        <p:nvPicPr>
          <p:cNvPr id="10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itle 1"/>
          <p:cNvSpPr txBox="1"/>
          <p:nvPr>
            <p:ph type="title"/>
          </p:nvPr>
        </p:nvSpPr>
        <p:spPr>
          <a:xfrm>
            <a:off x="2875956" y="330586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Data Structure Used</a:t>
            </a:r>
          </a:p>
        </p:txBody>
      </p:sp>
      <p:sp>
        <p:nvSpPr>
          <p:cNvPr id="113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b="1" sz="2037"/>
            </a:pPr>
            <a:r>
              <a:t>Hash Map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Stores key-value pairs.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Provides </a:t>
            </a:r>
            <a:r>
              <a:rPr b="1"/>
              <a:t>O(1)</a:t>
            </a:r>
            <a:r>
              <a:t> search.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b="1" sz="2037"/>
            </a:pPr>
            <a:r>
              <a:t>Doubly Linked List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Maintains order of recently used items.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Front → Most Recently Used (MRU)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Rear → Least Recently Used (LRU)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b="1" sz="2037"/>
            </a:pPr>
            <a:r>
              <a:t>Working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Search item.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If found → Move to front.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If not found → Insert at front. 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037"/>
            </a:pPr>
            <a:r>
              <a:t>If cache is full → Remove rear node.</a:t>
            </a:r>
          </a:p>
        </p:txBody>
      </p:sp>
      <p:pic>
        <p:nvPicPr>
          <p:cNvPr id="11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 txBox="1"/>
          <p:nvPr>
            <p:ph type="title"/>
          </p:nvPr>
        </p:nvSpPr>
        <p:spPr>
          <a:xfrm>
            <a:off x="2611163" y="342099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Complexity Analysis</a:t>
            </a:r>
          </a:p>
        </p:txBody>
      </p:sp>
      <p:graphicFrame>
        <p:nvGraphicFramePr>
          <p:cNvPr id="118" name="Content Placeholder 3"/>
          <p:cNvGraphicFramePr/>
          <p:nvPr/>
        </p:nvGraphicFramePr>
        <p:xfrm>
          <a:off x="953327" y="3743120"/>
          <a:ext cx="10515601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257800"/>
                <a:gridCol w="525780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Operation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Time Complexity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Search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O(1)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Insert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O(1)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Delete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O(1)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Move to Front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O(1)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9" name="TextBox 5"/>
          <p:cNvSpPr txBox="1"/>
          <p:nvPr/>
        </p:nvSpPr>
        <p:spPr>
          <a:xfrm>
            <a:off x="883919" y="1519904"/>
            <a:ext cx="7561980" cy="1807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b="1" sz="2200"/>
            </a:pPr>
            <a:r>
              <a:t>Advantages</a:t>
            </a:r>
          </a:p>
          <a:p>
            <a:pPr>
              <a:buSzPct val="100000"/>
              <a:buFont typeface="Arial"/>
              <a:buChar char="•"/>
              <a:defRPr sz="2200"/>
            </a:pPr>
            <a:r>
              <a:t>Fast access </a:t>
            </a:r>
          </a:p>
          <a:p>
            <a:pPr>
              <a:buSzPct val="100000"/>
              <a:buFont typeface="Arial"/>
              <a:buChar char="•"/>
              <a:defRPr sz="2200"/>
            </a:pPr>
            <a:r>
              <a:t>Efficient memory usage </a:t>
            </a:r>
          </a:p>
          <a:p>
            <a:pPr>
              <a:buSzPct val="100000"/>
              <a:buFont typeface="Arial"/>
              <a:buChar char="•"/>
              <a:defRPr sz="2200"/>
            </a:pPr>
            <a:r>
              <a:t>Used in browsers, operating systems, databases, and CPU caches.</a:t>
            </a:r>
          </a:p>
        </p:txBody>
      </p:sp>
      <p:pic>
        <p:nvPicPr>
          <p:cNvPr id="12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xfrm>
            <a:off x="3589746" y="249997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24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LRU Cache combines </a:t>
            </a:r>
            <a:r>
              <a:rPr b="1"/>
              <a:t>Hash Map</a:t>
            </a:r>
            <a:r>
              <a:t> and </a:t>
            </a:r>
            <a:r>
              <a:rPr b="1"/>
              <a:t>Doubly Linked List</a:t>
            </a:r>
            <a:r>
              <a:t>. </a:t>
            </a:r>
          </a:p>
          <a:p>
            <a:pPr/>
            <a:r>
              <a:t>Provides constant-time operations. </a:t>
            </a:r>
          </a:p>
          <a:p>
            <a:pPr/>
            <a:r>
              <a:t>Improves application speed by keeping frequently used data in memory. </a:t>
            </a:r>
          </a:p>
          <a:p>
            <a:pPr/>
            <a:r>
              <a:t>Best suited for high-performance caching systems. </a:t>
            </a:r>
          </a:p>
        </p:txBody>
      </p:sp>
      <p:pic>
        <p:nvPicPr>
          <p:cNvPr id="12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5400"/>
            </a:lvl1pPr>
          </a:lstStyle>
          <a:p>
            <a:pPr/>
            <a:r>
              <a:t>Maze Solving Using Recursion and Stack Data Structure</a:t>
            </a:r>
          </a:p>
        </p:txBody>
      </p:sp>
      <p:sp>
        <p:nvSpPr>
          <p:cNvPr id="129" name="Subtitle 2"/>
          <p:cNvSpPr txBox="1"/>
          <p:nvPr>
            <p:ph type="subTitle" sz="quarter" idx="1"/>
          </p:nvPr>
        </p:nvSpPr>
        <p:spPr>
          <a:xfrm>
            <a:off x="1524000" y="3602037"/>
            <a:ext cx="9144000" cy="1655762"/>
          </a:xfrm>
          <a:prstGeom prst="rect">
            <a:avLst/>
          </a:prstGeom>
        </p:spPr>
        <p:txBody>
          <a:bodyPr/>
          <a:lstStyle/>
          <a:p>
            <a:pPr/>
            <a:r>
              <a:t>Data Structure-CSA0302</a:t>
            </a:r>
          </a:p>
        </p:txBody>
      </p:sp>
      <p:sp>
        <p:nvSpPr>
          <p:cNvPr id="130" name="TextBox 4"/>
          <p:cNvSpPr txBox="1"/>
          <p:nvPr/>
        </p:nvSpPr>
        <p:spPr>
          <a:xfrm>
            <a:off x="8055863" y="4871529"/>
            <a:ext cx="3895345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Presented by </a:t>
            </a:r>
          </a:p>
          <a:p>
            <a:pPr/>
            <a:r>
              <a:t>S.Mohana velan</a:t>
            </a:r>
          </a:p>
        </p:txBody>
      </p:sp>
      <p:sp>
        <p:nvSpPr>
          <p:cNvPr id="131" name="TextBox 6"/>
          <p:cNvSpPr txBox="1"/>
          <p:nvPr/>
        </p:nvSpPr>
        <p:spPr>
          <a:xfrm>
            <a:off x="386333" y="4871527"/>
            <a:ext cx="6003038" cy="6251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  <a:r>
              <a:t>Guided by </a:t>
            </a:r>
          </a:p>
          <a:p>
            <a:pPr/>
            <a:r>
              <a:t>Dr.Alphonsa</a:t>
            </a:r>
          </a:p>
        </p:txBody>
      </p:sp>
      <p:grpSp>
        <p:nvGrpSpPr>
          <p:cNvPr id="134" name="object 4"/>
          <p:cNvGrpSpPr/>
          <p:nvPr/>
        </p:nvGrpSpPr>
        <p:grpSpPr>
          <a:xfrm>
            <a:off x="253998" y="262162"/>
            <a:ext cx="11684005" cy="1350742"/>
            <a:chOff x="0" y="-1"/>
            <a:chExt cx="11684003" cy="1350740"/>
          </a:xfrm>
        </p:grpSpPr>
        <p:pic>
          <p:nvPicPr>
            <p:cNvPr id="132" name="object 4" descr="object 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203199" y="203200"/>
              <a:ext cx="11277605" cy="90623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object 4" descr="object 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1" y="-2"/>
              <a:ext cx="11684005" cy="135074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135" name="object 4" descr="object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Title 1"/>
          <p:cNvSpPr txBox="1"/>
          <p:nvPr>
            <p:ph type="title"/>
          </p:nvPr>
        </p:nvSpPr>
        <p:spPr>
          <a:xfrm>
            <a:off x="2933520" y="480252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INTRODUCTION</a:t>
            </a:r>
            <a:br/>
          </a:p>
        </p:txBody>
      </p:sp>
      <p:sp>
        <p:nvSpPr>
          <p:cNvPr id="138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240631" indent="-240631" defTabSz="457200">
              <a:lnSpc>
                <a:spcPct val="100000"/>
              </a:lnSpc>
              <a:spcBef>
                <a:spcPts val="1200"/>
              </a:spcBef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Maze solving is a problem of finding a valid path from the starting point to the destination.</a:t>
            </a:r>
          </a:p>
          <a:p>
            <a:pPr marL="240631" indent="-240631" defTabSz="457200">
              <a:lnSpc>
                <a:spcPct val="100000"/>
              </a:lnSpc>
              <a:spcBef>
                <a:spcPts val="1200"/>
              </a:spcBef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Recursion is used to explore all possible paths until the correct path is found.</a:t>
            </a:r>
          </a:p>
          <a:p>
            <a:pPr marL="240631" indent="-240631" defTabSz="457200">
              <a:lnSpc>
                <a:spcPct val="100000"/>
              </a:lnSpc>
              <a:spcBef>
                <a:spcPts val="1200"/>
              </a:spcBef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Stack stores the path taken and helps in backtracking when a dead end is reached.</a:t>
            </a:r>
          </a:p>
          <a:p>
            <a:pPr marL="240631" indent="-240631" defTabSz="457200">
              <a:lnSpc>
                <a:spcPct val="100000"/>
              </a:lnSpc>
              <a:spcBef>
                <a:spcPts val="1200"/>
              </a:spcBef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approach demonstrates the practical application of recursion and stack data structures in problem-solving.</a:t>
            </a:r>
          </a:p>
          <a:p>
            <a:pPr marL="240631" indent="-240631" defTabSz="457200">
              <a:lnSpc>
                <a:spcPct val="100000"/>
              </a:lnSpc>
              <a:spcBef>
                <a:spcPts val="1200"/>
              </a:spcBef>
              <a:buFontTx/>
              <a:defRPr sz="24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Maze-solving techniques are widely used in robotics, game development, artificial intelligence, and pathfinding applications.</a:t>
            </a:r>
          </a:p>
        </p:txBody>
      </p:sp>
      <p:pic>
        <p:nvPicPr>
          <p:cNvPr id="13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itle 1"/>
          <p:cNvSpPr txBox="1"/>
          <p:nvPr>
            <p:ph type="title"/>
          </p:nvPr>
        </p:nvSpPr>
        <p:spPr>
          <a:xfrm>
            <a:off x="2933520" y="480252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Problem Statement</a:t>
            </a:r>
            <a:br/>
          </a:p>
        </p:txBody>
      </p:sp>
      <p:sp>
        <p:nvSpPr>
          <p:cNvPr id="143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Problem</a:t>
            </a:r>
          </a:p>
          <a:p>
            <a:pPr/>
            <a:r>
              <a:t>Find a path from the start point to the destination. </a:t>
            </a:r>
          </a:p>
          <a:p>
            <a:pPr/>
            <a:r>
              <a:t>The algorithm explores many possible paths. </a:t>
            </a:r>
          </a:p>
          <a:p>
            <a:pPr/>
            <a:r>
              <a:t>It must return (backtrack) when a path is blocked. </a:t>
            </a:r>
          </a:p>
          <a:p>
            <a:pPr>
              <a:defRPr b="1"/>
            </a:pPr>
            <a:r>
              <a:t>Solution</a:t>
            </a:r>
          </a:p>
          <a:p>
            <a:pPr/>
            <a:r>
              <a:t>Use </a:t>
            </a:r>
            <a:r>
              <a:rPr b="1"/>
              <a:t>Stack (Recursion Call Stack)</a:t>
            </a:r>
            <a:r>
              <a:t>. </a:t>
            </a:r>
          </a:p>
        </p:txBody>
      </p:sp>
      <p:pic>
        <p:nvPicPr>
          <p:cNvPr id="14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 txBox="1"/>
          <p:nvPr>
            <p:ph type="title"/>
          </p:nvPr>
        </p:nvSpPr>
        <p:spPr>
          <a:xfrm>
            <a:off x="2473010" y="342099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Data Structure Used</a:t>
            </a:r>
          </a:p>
        </p:txBody>
      </p:sp>
      <p:sp>
        <p:nvSpPr>
          <p:cNvPr id="148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2000"/>
              </a:lnSpc>
              <a:defRPr b="1" sz="2500"/>
            </a:pPr>
            <a:r>
              <a:t>Stack (LIFO)</a:t>
            </a:r>
          </a:p>
          <a:p>
            <a:pPr>
              <a:lnSpc>
                <a:spcPct val="72000"/>
              </a:lnSpc>
              <a:defRPr sz="2500"/>
            </a:pPr>
            <a:r>
              <a:t>Last In → First Out </a:t>
            </a:r>
          </a:p>
          <a:p>
            <a:pPr>
              <a:lnSpc>
                <a:spcPct val="72000"/>
              </a:lnSpc>
              <a:defRPr sz="2500"/>
            </a:pPr>
            <a:r>
              <a:t>Every recursive call is pushed onto the stack. </a:t>
            </a:r>
          </a:p>
          <a:p>
            <a:pPr>
              <a:lnSpc>
                <a:spcPct val="72000"/>
              </a:lnSpc>
              <a:defRPr sz="2500"/>
            </a:pPr>
            <a:r>
              <a:t>Dead-end paths are popped automatically during backtracking. </a:t>
            </a:r>
          </a:p>
          <a:p>
            <a:pPr>
              <a:lnSpc>
                <a:spcPct val="72000"/>
              </a:lnSpc>
              <a:defRPr b="1" sz="2500"/>
            </a:pPr>
            <a:r>
              <a:t>Working</a:t>
            </a:r>
          </a:p>
          <a:p>
            <a:pPr>
              <a:lnSpc>
                <a:spcPct val="72000"/>
              </a:lnSpc>
              <a:defRPr sz="2500"/>
            </a:pPr>
            <a:r>
              <a:t>Visit a cell. </a:t>
            </a:r>
          </a:p>
          <a:p>
            <a:pPr>
              <a:lnSpc>
                <a:spcPct val="72000"/>
              </a:lnSpc>
              <a:defRPr sz="2500"/>
            </a:pPr>
            <a:r>
              <a:t>Mark it as visited. </a:t>
            </a:r>
          </a:p>
          <a:p>
            <a:pPr>
              <a:lnSpc>
                <a:spcPct val="72000"/>
              </a:lnSpc>
              <a:defRPr sz="2500"/>
            </a:pPr>
            <a:r>
              <a:t>Move to an adjacent cell. </a:t>
            </a:r>
          </a:p>
          <a:p>
            <a:pPr>
              <a:lnSpc>
                <a:spcPct val="72000"/>
              </a:lnSpc>
              <a:defRPr sz="2500"/>
            </a:pPr>
            <a:r>
              <a:t>If blocked → Return (Backtrack). </a:t>
            </a:r>
          </a:p>
          <a:p>
            <a:pPr>
              <a:lnSpc>
                <a:spcPct val="72000"/>
              </a:lnSpc>
              <a:defRPr sz="2500"/>
            </a:pPr>
            <a:r>
              <a:t>Continue until destination is found. </a:t>
            </a:r>
          </a:p>
        </p:txBody>
      </p:sp>
      <p:pic>
        <p:nvPicPr>
          <p:cNvPr id="14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itle 1"/>
          <p:cNvSpPr txBox="1"/>
          <p:nvPr>
            <p:ph type="title"/>
          </p:nvPr>
        </p:nvSpPr>
        <p:spPr>
          <a:xfrm>
            <a:off x="2611163" y="307561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Complexity Analysis</a:t>
            </a:r>
            <a:br/>
          </a:p>
        </p:txBody>
      </p:sp>
      <p:graphicFrame>
        <p:nvGraphicFramePr>
          <p:cNvPr id="153" name="Content Placeholder 3"/>
          <p:cNvGraphicFramePr/>
          <p:nvPr/>
        </p:nvGraphicFramePr>
        <p:xfrm>
          <a:off x="1126018" y="3947702"/>
          <a:ext cx="10515601" cy="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257800"/>
                <a:gridCol w="5257800"/>
              </a:tblGrid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Parameter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Complexity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Time Complexity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O(M × N)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  <a:tr h="50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Space Complexity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2100"/>
                        <a:t>O(M × N)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4" name="TextBox 5"/>
          <p:cNvSpPr txBox="1"/>
          <p:nvPr/>
        </p:nvSpPr>
        <p:spPr>
          <a:xfrm>
            <a:off x="1091149" y="1642920"/>
            <a:ext cx="6003037" cy="2013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2100"/>
            </a:pPr>
            <a:r>
              <a:t>(M = rows, N = columns)</a:t>
            </a:r>
          </a:p>
          <a:p>
            <a:pPr>
              <a:defRPr b="1" sz="2100"/>
            </a:pPr>
            <a:r>
              <a:t>Advantages</a:t>
            </a:r>
          </a:p>
          <a:p>
            <a:pPr>
              <a:buSzPct val="100000"/>
              <a:buFont typeface="Arial"/>
              <a:buChar char="•"/>
              <a:defRPr sz="2100"/>
            </a:pPr>
            <a:r>
              <a:t>Simple implementation </a:t>
            </a:r>
          </a:p>
          <a:p>
            <a:pPr>
              <a:buSzPct val="100000"/>
              <a:buFont typeface="Arial"/>
              <a:buChar char="•"/>
              <a:defRPr sz="2100"/>
            </a:pPr>
            <a:r>
              <a:t>Automatic backtracking </a:t>
            </a:r>
          </a:p>
          <a:p>
            <a:pPr>
              <a:buSzPct val="100000"/>
              <a:buFont typeface="Arial"/>
              <a:buChar char="•"/>
              <a:defRPr sz="2100"/>
            </a:pPr>
            <a:r>
              <a:t>Prevents revisiting the same path </a:t>
            </a:r>
          </a:p>
          <a:p>
            <a:pPr>
              <a:buSzPct val="100000"/>
              <a:buFont typeface="Arial"/>
              <a:buChar char="•"/>
              <a:defRPr sz="2100"/>
            </a:pPr>
            <a:r>
              <a:t>Efficient for maze exploration</a:t>
            </a:r>
          </a:p>
        </p:txBody>
      </p:sp>
      <p:pic>
        <p:nvPicPr>
          <p:cNvPr id="15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 txBox="1"/>
          <p:nvPr>
            <p:ph type="title"/>
          </p:nvPr>
        </p:nvSpPr>
        <p:spPr>
          <a:xfrm>
            <a:off x="3750925" y="342099"/>
            <a:ext cx="10515601" cy="1325564"/>
          </a:xfrm>
          <a:prstGeom prst="rect">
            <a:avLst/>
          </a:prstGeom>
        </p:spPr>
        <p:txBody>
          <a:bodyPr/>
          <a:lstStyle/>
          <a:p>
            <a:pPr/>
            <a:r>
              <a:t>Conclusion</a:t>
            </a:r>
          </a:p>
        </p:txBody>
      </p:sp>
      <p:sp>
        <p:nvSpPr>
          <p:cNvPr id="159" name="Content Placeholder 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/>
            <a:r>
              <a:t>Maze solving uses the </a:t>
            </a:r>
            <a:r>
              <a:rPr b="1"/>
              <a:t>Stack</a:t>
            </a:r>
            <a:r>
              <a:t> through recursive function calls. </a:t>
            </a:r>
          </a:p>
          <a:p>
            <a:pPr/>
            <a:r>
              <a:t>Backtracking efficiently explores all possible paths. </a:t>
            </a:r>
          </a:p>
          <a:p>
            <a:pPr/>
            <a:r>
              <a:t>Time complexity is </a:t>
            </a:r>
            <a:r>
              <a:rPr b="1"/>
              <a:t>O(M × N)</a:t>
            </a:r>
            <a:r>
              <a:t>. </a:t>
            </a:r>
          </a:p>
          <a:p>
            <a:pPr/>
            <a:r>
              <a:t>Stack-based recursion is ideal for DFS-based maze-solving algorithms. </a:t>
            </a:r>
          </a:p>
          <a:p>
            <a:pPr/>
            <a:r>
              <a:t>These slide contents align well with the assessment requirement of identifying the appropriate data structure, explaining its working, and justifying its efficiency using complexity analysis. </a:t>
            </a:r>
          </a:p>
        </p:txBody>
      </p:sp>
      <p:pic>
        <p:nvPicPr>
          <p:cNvPr id="16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7352" y="191643"/>
            <a:ext cx="1103581" cy="13428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0514203" y="191643"/>
            <a:ext cx="1520064" cy="13428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HANK YOU"/>
          <p:cNvSpPr txBox="1"/>
          <p:nvPr/>
        </p:nvSpPr>
        <p:spPr>
          <a:xfrm>
            <a:off x="3186336" y="2789716"/>
            <a:ext cx="5819327" cy="12785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300"/>
            </a:lvl1pPr>
          </a:lstStyle>
          <a:p>
            <a:pPr/>
            <a:r>
              <a:t>THANK YOU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